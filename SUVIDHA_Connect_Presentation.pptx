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otype Corsiva" panose="03010101010201010101" pitchFamily="66" charset="0"/>
      <p:italic r:id="rId13"/>
    </p:embeddedFont>
    <p:embeddedFont>
      <p:font typeface="Nirmala UI" panose="020B0502040204020203" pitchFamily="34" charset="0"/>
      <p:regular r:id="rId14"/>
      <p:bold r:id="rId15"/>
    </p:embeddedFont>
    <p:embeddedFont>
      <p:font typeface="Pacifico" panose="020B0604020202020204" charset="0"/>
      <p:regular r:id="rId16"/>
    </p:embeddedFont>
    <p:embeddedFont>
      <p:font typeface="Playfair Display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67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cd79896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g357cd79896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7cd79896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7cd79896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7cd79896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7cd79896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7cd79896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57cd79896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7cd79896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57cd79896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ea9347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8aea9347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3"/>
          <p:cNvGrpSpPr/>
          <p:nvPr/>
        </p:nvGrpSpPr>
        <p:grpSpPr>
          <a:xfrm>
            <a:off x="101250" y="48250"/>
            <a:ext cx="1305332" cy="946014"/>
            <a:chOff x="0" y="-192881"/>
            <a:chExt cx="16135134" cy="2541000"/>
          </a:xfrm>
        </p:grpSpPr>
        <p:grpSp>
          <p:nvGrpSpPr>
            <p:cNvPr id="56" name="Google Shape;56;p13"/>
            <p:cNvGrpSpPr/>
            <p:nvPr/>
          </p:nvGrpSpPr>
          <p:grpSpPr>
            <a:xfrm>
              <a:off x="11391445" y="-192881"/>
              <a:ext cx="4743689" cy="2541000"/>
              <a:chOff x="0" y="-38100"/>
              <a:chExt cx="937025" cy="501926"/>
            </a:xfrm>
          </p:grpSpPr>
          <p:sp>
            <p:nvSpPr>
              <p:cNvPr id="57" name="Google Shape;57;p13"/>
              <p:cNvSpPr/>
              <p:nvPr/>
            </p:nvSpPr>
            <p:spPr>
              <a:xfrm>
                <a:off x="0" y="0"/>
                <a:ext cx="937025" cy="463826"/>
              </a:xfrm>
              <a:custGeom>
                <a:avLst/>
                <a:gdLst/>
                <a:ahLst/>
                <a:cxnLst/>
                <a:rect l="l" t="t" r="r" b="b"/>
                <a:pathLst>
                  <a:path w="937025" h="463826" extrusionOk="0">
                    <a:moveTo>
                      <a:pt x="0" y="0"/>
                    </a:moveTo>
                    <a:lnTo>
                      <a:pt x="937025" y="0"/>
                    </a:lnTo>
                    <a:lnTo>
                      <a:pt x="937025" y="463826"/>
                    </a:lnTo>
                    <a:lnTo>
                      <a:pt x="0" y="463826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58" name="Google Shape;58;p13"/>
              <p:cNvSpPr txBox="1"/>
              <p:nvPr/>
            </p:nvSpPr>
            <p:spPr>
              <a:xfrm>
                <a:off x="0" y="-38100"/>
                <a:ext cx="9369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13"/>
            <p:cNvGrpSpPr/>
            <p:nvPr/>
          </p:nvGrpSpPr>
          <p:grpSpPr>
            <a:xfrm>
              <a:off x="0" y="-192881"/>
              <a:ext cx="11667488" cy="2541000"/>
              <a:chOff x="0" y="-38100"/>
              <a:chExt cx="2304689" cy="501926"/>
            </a:xfrm>
          </p:grpSpPr>
          <p:sp>
            <p:nvSpPr>
              <p:cNvPr id="60" name="Google Shape;60;p13"/>
              <p:cNvSpPr/>
              <p:nvPr/>
            </p:nvSpPr>
            <p:spPr>
              <a:xfrm>
                <a:off x="0" y="0"/>
                <a:ext cx="2304689" cy="463826"/>
              </a:xfrm>
              <a:custGeom>
                <a:avLst/>
                <a:gdLst/>
                <a:ahLst/>
                <a:cxnLst/>
                <a:rect l="l" t="t" r="r" b="b"/>
                <a:pathLst>
                  <a:path w="2304689" h="463826" extrusionOk="0">
                    <a:moveTo>
                      <a:pt x="0" y="0"/>
                    </a:moveTo>
                    <a:lnTo>
                      <a:pt x="2304689" y="0"/>
                    </a:lnTo>
                    <a:lnTo>
                      <a:pt x="2304689" y="463826"/>
                    </a:lnTo>
                    <a:lnTo>
                      <a:pt x="0" y="463826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61" name="Google Shape;61;p13"/>
              <p:cNvSpPr txBox="1"/>
              <p:nvPr/>
            </p:nvSpPr>
            <p:spPr>
              <a:xfrm>
                <a:off x="0" y="-38100"/>
                <a:ext cx="23046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" name="Google Shape;62;p13"/>
          <p:cNvSpPr txBox="1"/>
          <p:nvPr/>
        </p:nvSpPr>
        <p:spPr>
          <a:xfrm>
            <a:off x="1754577" y="1022936"/>
            <a:ext cx="56349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CENTRE FOR DEVELOPMENT OF ADVANCED COMPUTING (C-DAC)</a:t>
            </a:r>
            <a:endParaRPr sz="1600" b="1" i="0" u="none" strike="noStrike" cap="non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639877" y="3087194"/>
            <a:ext cx="38643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2200" b="1">
                <a:solidFill>
                  <a:srgbClr val="0B5394"/>
                </a:solidFill>
              </a:rPr>
              <a:t>YellowSense Technologies</a:t>
            </a:r>
            <a:endParaRPr sz="1600" b="1" i="1" u="none" strike="noStrike" cap="none" dirty="0">
              <a:solidFill>
                <a:schemeClr val="dk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layfair Display"/>
            </a:endParaRPr>
          </a:p>
        </p:txBody>
      </p:sp>
      <p:pic>
        <p:nvPicPr>
          <p:cNvPr id="66" name="Google Shape;66;p13" title="Vector illustration of shiny yellow e-mail web icon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825" y="4339225"/>
            <a:ext cx="205263" cy="26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File:Phone Shiny Icon.svg - Wikimedia Comm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825" y="4016225"/>
            <a:ext cx="205266" cy="20526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527050" y="4016225"/>
            <a:ext cx="11289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09800" y="4302713"/>
            <a:ext cx="14490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090431" y="4480400"/>
            <a:ext cx="20079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098900" y="4470900"/>
            <a:ext cx="17634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250" y="105358"/>
            <a:ext cx="2705100" cy="7477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/>
          <p:nvPr/>
        </p:nvSpPr>
        <p:spPr>
          <a:xfrm>
            <a:off x="818875" y="-4312734"/>
            <a:ext cx="7315200" cy="3429000"/>
          </a:xfrm>
          <a:custGeom>
            <a:avLst/>
            <a:gdLst/>
            <a:ahLst/>
            <a:cxnLst/>
            <a:rect l="l" t="t" r="r" b="b"/>
            <a:pathLst>
              <a:path w="7315200" h="3429000" extrusionOk="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/>
          <a:p/>
        </p:txBody>
      </p:sp>
      <p:sp>
        <p:nvSpPr>
          <p:cNvPr id="77" name="Google Shape;77;p13"/>
          <p:cNvSpPr/>
          <p:nvPr/>
        </p:nvSpPr>
        <p:spPr>
          <a:xfrm rot="-10195540">
            <a:off x="-8032755" y="-6051120"/>
            <a:ext cx="3415541" cy="2612888"/>
          </a:xfrm>
          <a:custGeom>
            <a:avLst/>
            <a:gdLst/>
            <a:ahLst/>
            <a:cxnLst/>
            <a:rect l="l" t="t" r="r" b="b"/>
            <a:pathLst>
              <a:path w="3414090" h="2611778" extrusionOk="0">
                <a:moveTo>
                  <a:pt x="0" y="0"/>
                </a:moveTo>
                <a:lnTo>
                  <a:pt x="3414090" y="0"/>
                </a:lnTo>
                <a:lnTo>
                  <a:pt x="3414090" y="2611779"/>
                </a:lnTo>
                <a:lnTo>
                  <a:pt x="0" y="2611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p/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8">
            <a:alphaModFix/>
          </a:blip>
          <a:srcRect b="23436"/>
          <a:stretch/>
        </p:blipFill>
        <p:spPr>
          <a:xfrm>
            <a:off x="3823826" y="1864675"/>
            <a:ext cx="1392314" cy="103906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2639877" y="350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5394"/>
                </a:solidFill>
              </a:rPr>
              <a:t>SUVIDHA Connect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00000" y="3850000"/>
            <a:ext cx="5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</a:rPr>
              <a:t>Smart Unified Virtual Interface for Digital Helpdesk &amp; Assistance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7050" y="4016225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C3C3C"/>
                </a:solidFill>
              </a:rPr>
              <a:t>Team ID: NexaCore | Slot 39 | 05:20 PM – 05:30 PM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7050" y="4300000"/>
            <a:ext cx="4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1E1E"/>
                </a:solidFill>
              </a:rPr>
              <a:t>🌐 Live Demo:</a:t>
            </a:r>
          </a:p>
          <a:p>
            <a:pPr algn="l"/>
            <a:r>
              <a:rPr sz="900" b="0">
                <a:solidFill>
                  <a:srgbClr val="1E1E1E"/>
                </a:solidFill>
              </a:rPr>
              <a:t>https://suvidha-connect.vercel.app</a:t>
            </a:r>
          </a:p>
          <a:p>
            <a:pPr algn="l"/>
            <a:r>
              <a:rPr sz="900" b="1">
                <a:solidFill>
                  <a:srgbClr val="1E1E1E"/>
                </a:solidFill>
              </a:rPr>
              <a:t>💻 GitHub:</a:t>
            </a:r>
          </a:p>
          <a:p>
            <a:pPr algn="l"/>
            <a:r>
              <a:rPr sz="900" b="0">
                <a:solidFill>
                  <a:srgbClr val="1E1E1E"/>
                </a:solidFill>
              </a:rPr>
              <a:t>github.com/YellowSense/suvidha-connect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311699" y="140224"/>
            <a:ext cx="8694599" cy="960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Understanding</a:t>
            </a:r>
            <a:endParaRPr sz="3300" dirty="0">
              <a:solidFill>
                <a:srgbClr val="1155CC"/>
              </a:solidFill>
            </a:endParaRPr>
          </a:p>
        </p:txBody>
      </p:sp>
      <p:cxnSp>
        <p:nvCxnSpPr>
          <p:cNvPr id="88" name="Google Shape;88;p14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14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92" name="Google Shape;92;p14"/>
          <p:cNvSpPr/>
          <p:nvPr/>
        </p:nvSpPr>
        <p:spPr>
          <a:xfrm rot="10800000">
            <a:off x="3170788" y="8349437"/>
            <a:ext cx="6492240" cy="3043238"/>
          </a:xfrm>
          <a:custGeom>
            <a:avLst/>
            <a:gdLst/>
            <a:ahLst/>
            <a:cxnLst/>
            <a:rect l="l" t="t" r="r" b="b"/>
            <a:pathLst>
              <a:path w="7315200" h="3429000" extrusionOk="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</p:sp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11699" y="700000"/>
            <a:ext cx="44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🔴 The Civic Service Gap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70%+ citizens in Tier-2/3 cities lack digital access to utility services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Long queues at electricity, gas &amp; municipal offices waste 2–4 hrs/visit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No unified platform — citizens visit 3+ offices for basic services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Language barriers exclude non-English speakers from digital portals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Elderly &amp; differently-abled citizens have no accessible kiosk option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🎯 Target Services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Electricity: Bill payment, new connections, consumption analytics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Gas (Assam Gas / LPG): Refill booking, subsidy tracking, safety alerts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Municipal: Grievance filing, waste management, document services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📍 Target Users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Semi-literate &amp; first-time digital users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Senior citizens &amp; Divyangjan (differently-abled)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Rural &amp; peri-urban citizens in Assam &amp; NE India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00000" y="70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📊 Problem Scale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500M+ citizens rely on govt utility services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₹2,000 Cr+ lost annually in inefficient billing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60% complaints go unresolved within SLA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Only 12% rural citizens use digital payment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⚠️ Key Pain Points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No single-window service delivery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Lack of real-time complaint tracking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No offline-capable kiosk solution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Zero gamification for digital adoption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No AI-assisted navigation for illiterate users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✅ SUVIDHA Connect Addresses All of These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dirty="0">
              <a:solidFill>
                <a:srgbClr val="1155CC"/>
              </a:solidFill>
            </a:endParaRPr>
          </a:p>
        </p:txBody>
      </p:sp>
      <p:cxnSp>
        <p:nvCxnSpPr>
          <p:cNvPr id="104" name="Google Shape;104;p15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15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11699" y="650000"/>
            <a:ext cx="44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✅ Prototype Maturity: Fully Functional System (MVP+)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Live at: https://suvidha-connect.vercel.app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⚡ Electricity Features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Bill fetch &amp; payment via Consumer ID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Consumption analytics with monthly comparison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New connection request with document upload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Tamper-proof digital receipt with QR code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🔥 Gas (Assam Gas / LPG) Features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One-touch refill booking &amp; payment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DBTL subsidy status tracking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Real-time safety alerts &amp; quick leak report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Piped gas connection management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🏛️ Municipal / Civic Features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Smart complaint filing with geo-tag &amp; tracking ID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Waste management schedule &amp; fee payment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Birth/Death/Caste certificate apply &amp; download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Real-time civic alerts broadcast ticker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00000" y="650000"/>
            <a:ext cx="40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🔐 Authentication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Mobile OTP login (9876543210 / OTP: 123456)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Consumer ID + PIN login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QR code scan (placeholder ready)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🤖 AI &amp; Smart Features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SUVIDHA Sahayak – NLP chat assistant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Voice Commander (Web Speech API)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Handles Hindi queries: 'Mera bijli bill dikhao'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🏆 Gamification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SUVIDHA Points for on-time bill payment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Redeemable for transport passes &amp; tax rebates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📅 Additional Services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Appointment booking (reduces office queues)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Rewards dashboard &amp; leaderboard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Admin monitoring dashboard with analytics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Audit logs &amp; integrity ledger (blockchain-lite)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7"/>
          <p:cNvCxnSpPr/>
          <p:nvPr/>
        </p:nvCxnSpPr>
        <p:spPr>
          <a:xfrm rot="10800000" flipH="1">
            <a:off x="276613" y="530725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7"/>
          <p:cNvSpPr txBox="1"/>
          <p:nvPr/>
        </p:nvSpPr>
        <p:spPr>
          <a:xfrm>
            <a:off x="276627" y="106075"/>
            <a:ext cx="62649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300"/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00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11699" y="650000"/>
            <a:ext cx="44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🏗️ 3-Layer Architecture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① Presentation Layer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React 18 + TypeScript + TailwindCSS + Shadcn UI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Modules: Login | Services | Admin | Voice | Chat | VirtualKeyboard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② Business Logic Layer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React Context API (Auth, Kiosk, Keyboard, i18n Contexts)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Custom hooks for session management &amp; accessibility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③ Data Layer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TypeScript-typed mock services (PostgreSQL-schema-ready)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Bill Service | Complaint Service | Request Service | Alert Service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☁️ Deployment Strategy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Cloud: Vercel (current) — 99.9% uptime, global CDN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On-Premise: Deployable on NIC servers / state data centres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Hybrid: Static frontend + REST API backend (future)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📡 Internet Dependency: Low–Medium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PWA caches critical UI — works offline for bill viewing &amp; forms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00000" y="650000"/>
            <a:ext cx="40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🖥️ Infrastructure Requirements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Kiosk Hardware: Android tablet / Raspberry Pi 4 / x86 mini-PC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RAM: 2GB minimum (4GB recommended)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Storage: 512MB for PWA cache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Display: 10–15" capacitive touchscreen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Network: 4G/LTE or broadband (fallback: offline PWA)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🔄 CI/CD &amp; Scalability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Git-based CI/CD via Vercel — push-to-deploy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Updates propagate to all kiosks simultaneously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Modular React components — add departments without rebuild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Code splitting + lazy loading for fast kiosk boot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🔌 Future Backend Integrations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REST APIs → State DISCOM / Gas utility databases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Payment Gateway → UPI / Bharat BillPay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PostgreSQL → Persistent citizen data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• SMS/Email → OTP &amp; receipt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ctrTitle"/>
          </p:nvPr>
        </p:nvSpPr>
        <p:spPr>
          <a:xfrm>
            <a:off x="401775" y="121513"/>
            <a:ext cx="7790654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 algn="l">
              <a:lnSpc>
                <a:spcPct val="90000"/>
              </a:lnSpc>
              <a:buSzPts val="2400"/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(Kiosk Focused Security, Scalability &amp; Compliance)</a:t>
            </a: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18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E001608-0CCB-349A-13D3-4A7851F17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944137"/>
            <a:ext cx="8520600" cy="2682588"/>
          </a:xfrm>
        </p:spPr>
        <p:txBody>
          <a:bodyPr wrap="square"/>
          <a:lstStyle/>
          <a:p>
            <a:pPr algn="l"/>
            <a:r>
              <a:rPr sz="950">
                <a:solidFill>
                  <a:srgbClr val="1E1E1E"/>
                </a:solidFill>
              </a:rPr>
              <a:t>🖐️ TOUCH-OPTIMISED UI</a:t>
            </a:r>
            <a:endParaRPr lang="en-US" dirty="0"/>
          </a:p>
          <a:p>
            <a:pPr algn="l"/>
            <a:r>
              <a:rPr sz="950">
                <a:solidFill>
                  <a:srgbClr val="1E1E1E"/>
                </a:solidFill>
              </a:rPr>
              <a:t>  • Min 56px touch targets — works on resistive &amp; capacitive screens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Custom VirtualKeyboard.tsx — no OS keyboard dependency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One-Task-Per-Screen flow: Identify → Verify → Pay → Receipt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High-contrast Govt theme: Blue / Saffron / Green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/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♿ ACCESSIBILITY &amp; INCLUSION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Bilingual: English + Hindi (i18next) — regional languages ready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Text-to-Speech (TTS) reads instructions aloud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Voice Commander — fully hands-free kiosk navigation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High-Contrast Mode (black/yellow) for low-vision users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WCAG 2.1 compliant semantic HTML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Senior-citizen-friendly large fonts &amp; simple flows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/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🔒 SECURITY ARCHITECTURE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180-sec auto session purge — prevents identity theft at public kiosks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SHA-256 Integrity Ledger — tamper-proof transaction &amp; complaint hashes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Anomaly Detection — flags brute-force &amp; rapid-fire submissions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Stateless frontend — zero sensitive data persists locally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DPDP Act compliant — privacy-first design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Rate limiting design for fraud prevention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/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📋 COMPLIANCE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Government UI guidelines followed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WCAG 2.1 AA accessibility standard</a:t>
            </a:r>
          </a:p>
          <a:p>
            <a:pPr algn="l"/>
            <a:r>
              <a:rPr sz="950">
                <a:solidFill>
                  <a:srgbClr val="1E1E1E"/>
                </a:solidFill>
              </a:rPr>
              <a:t>  • MeitY / Smart City Mission aligned</a:t>
            </a:r>
          </a:p>
        </p:txBody>
      </p:sp>
      <p:sp>
        <p:nvSpPr>
          <p:cNvPr id="9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>
            <a:spLocks noGrp="1"/>
          </p:cNvSpPr>
          <p:nvPr>
            <p:ph type="ctrTitle"/>
          </p:nvPr>
        </p:nvSpPr>
        <p:spPr>
          <a:xfrm>
            <a:off x="401775" y="121525"/>
            <a:ext cx="79032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 algn="l">
              <a:lnSpc>
                <a:spcPct val="90000"/>
              </a:lnSpc>
              <a:buSzPct val="120000"/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&amp; Future Scope</a:t>
            </a: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" name="Google Shape;153;p19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19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311699" y="650000"/>
            <a:ext cx="44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🚀 What Makes SUVIDHA Connect Unique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🤖 AI SUVIDHA Sahayak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NLP chat assistant handles Hindi &amp; English queries,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navigates users directly to relevant service sections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🎤 Voice Commander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Fully hands-free kiosk operation via Web Speech API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Critical for hygiene &amp; accessibility in public spaces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🏆 Gamification &amp; Rewards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SUVIDHA Points for on-time payments &amp; civic reporting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Redeemable for transport passes &amp; municipal tax rebates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Drives digital adoption in low-literacy communities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🔗 Blockchain-Lite Integrity Ledger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SHA-256 hash for every transaction &amp; complaint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Prevents administrative tampering of records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📱 PWA — Offline Capable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Installable on kiosk hardware, works without internet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Critical for rural &amp; low-connectivity deployments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00000" y="650000"/>
            <a:ext cx="40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1E1E"/>
                </a:solidFill>
              </a:rPr>
              <a:t>🔭 Future Roadmap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Phase 1 (0–6 months)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Live API integration with Assam Gas &amp; APDCL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UPI / Bharat BillPay payment gateway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PostgreSQL backend for persistent data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SMS OTP via MSG91 / AWS SNS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Phase 2 (6–12 months)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Expand to 5+ regional languages (Assamese, Bengali, Tamil)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Aadhaar-based eKYC authentication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DigiLocker integration for document fetch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Predictive analytics for admin dashboard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Phase 3 (12–24 months)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Pan-India rollout across Smart City kiosks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IoT sensor integration (smart meters, water sensors)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AI-powered grievance auto-routing to departments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• National Civic Services API federation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1E1E1E"/>
                </a:solidFill>
              </a:rPr>
              <a:t>💡 Why We Will Win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Production-ready • Accessible • Secure • Scalable</a:t>
            </a:r>
          </a:p>
          <a:p>
            <a:pPr algn="l"/>
            <a:r>
              <a:rPr sz="1000" b="0">
                <a:solidFill>
                  <a:srgbClr val="1E1E1E"/>
                </a:solidFill>
              </a:rPr>
              <a:t>  Built for Bharat, not just metros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</Words>
  <Application>Microsoft Office PowerPoint</Application>
  <PresentationFormat>On-screen Show (16:9)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Monotype Corsiva</vt:lpstr>
      <vt:lpstr>Nirmala UI</vt:lpstr>
      <vt:lpstr>Pacifico</vt:lpstr>
      <vt:lpstr>Arial</vt:lpstr>
      <vt:lpstr>Times New Roman</vt:lpstr>
      <vt:lpstr>Playfair Display</vt:lpstr>
      <vt:lpstr>Simple Light</vt:lpstr>
      <vt:lpstr>PowerPoint Presentation</vt:lpstr>
      <vt:lpstr>Problem Understanding</vt:lpstr>
      <vt:lpstr>Proposed Solution</vt:lpstr>
      <vt:lpstr>PowerPoint Presentation</vt:lpstr>
      <vt:lpstr>UI/UX (Kiosk Focused Security, Scalability &amp; Compliance)</vt:lpstr>
      <vt:lpstr>Innovation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PMU</cp:lastModifiedBy>
  <cp:revision>4</cp:revision>
  <dcterms:modified xsi:type="dcterms:W3CDTF">2026-03-10T06:05:03Z</dcterms:modified>
</cp:coreProperties>
</file>