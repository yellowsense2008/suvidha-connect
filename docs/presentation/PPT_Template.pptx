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Monotype Corsiva" panose="03010101010201010101" pitchFamily="66" charset="0"/>
      <p:italic r:id="rId13"/>
    </p:embeddedFont>
    <p:embeddedFont>
      <p:font typeface="Nirmala UI" panose="020B0502040204020203" pitchFamily="34" charset="0"/>
      <p:regular r:id="rId14"/>
      <p:bold r:id="rId15"/>
    </p:embeddedFont>
    <p:embeddedFont>
      <p:font typeface="Pacifico" panose="020B0604020202020204" charset="0"/>
      <p:regular r:id="rId16"/>
    </p:embeddedFont>
    <p:embeddedFont>
      <p:font typeface="Playfair Display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67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7cd79896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" name="Google Shape;52;g357cd79896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7cd79896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7cd79896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7cd79896b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7cd79896b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7cd79896b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57cd79896b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7cd79896b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g357cd79896b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aea9347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8aea9347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3"/>
          <p:cNvGrpSpPr/>
          <p:nvPr/>
        </p:nvGrpSpPr>
        <p:grpSpPr>
          <a:xfrm>
            <a:off x="101250" y="48250"/>
            <a:ext cx="1305332" cy="946014"/>
            <a:chOff x="0" y="-192881"/>
            <a:chExt cx="16135134" cy="2541000"/>
          </a:xfrm>
        </p:grpSpPr>
        <p:grpSp>
          <p:nvGrpSpPr>
            <p:cNvPr id="56" name="Google Shape;56;p13"/>
            <p:cNvGrpSpPr/>
            <p:nvPr/>
          </p:nvGrpSpPr>
          <p:grpSpPr>
            <a:xfrm>
              <a:off x="11391445" y="-192881"/>
              <a:ext cx="4743689" cy="2541000"/>
              <a:chOff x="0" y="-38100"/>
              <a:chExt cx="937025" cy="501926"/>
            </a:xfrm>
          </p:grpSpPr>
          <p:sp>
            <p:nvSpPr>
              <p:cNvPr id="57" name="Google Shape;57;p13"/>
              <p:cNvSpPr/>
              <p:nvPr/>
            </p:nvSpPr>
            <p:spPr>
              <a:xfrm>
                <a:off x="0" y="0"/>
                <a:ext cx="937025" cy="463826"/>
              </a:xfrm>
              <a:custGeom>
                <a:avLst/>
                <a:gdLst/>
                <a:ahLst/>
                <a:cxnLst/>
                <a:rect l="l" t="t" r="r" b="b"/>
                <a:pathLst>
                  <a:path w="937025" h="463826" extrusionOk="0">
                    <a:moveTo>
                      <a:pt x="0" y="0"/>
                    </a:moveTo>
                    <a:lnTo>
                      <a:pt x="937025" y="0"/>
                    </a:lnTo>
                    <a:lnTo>
                      <a:pt x="937025" y="463826"/>
                    </a:lnTo>
                    <a:lnTo>
                      <a:pt x="0" y="463826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</p:sp>
          <p:sp>
            <p:nvSpPr>
              <p:cNvPr id="58" name="Google Shape;58;p13"/>
              <p:cNvSpPr txBox="1"/>
              <p:nvPr/>
            </p:nvSpPr>
            <p:spPr>
              <a:xfrm>
                <a:off x="0" y="-38100"/>
                <a:ext cx="936900" cy="50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" name="Google Shape;59;p13"/>
            <p:cNvGrpSpPr/>
            <p:nvPr/>
          </p:nvGrpSpPr>
          <p:grpSpPr>
            <a:xfrm>
              <a:off x="0" y="-192881"/>
              <a:ext cx="11667488" cy="2541000"/>
              <a:chOff x="0" y="-38100"/>
              <a:chExt cx="2304689" cy="501926"/>
            </a:xfrm>
          </p:grpSpPr>
          <p:sp>
            <p:nvSpPr>
              <p:cNvPr id="60" name="Google Shape;60;p13"/>
              <p:cNvSpPr/>
              <p:nvPr/>
            </p:nvSpPr>
            <p:spPr>
              <a:xfrm>
                <a:off x="0" y="0"/>
                <a:ext cx="2304689" cy="463826"/>
              </a:xfrm>
              <a:custGeom>
                <a:avLst/>
                <a:gdLst/>
                <a:ahLst/>
                <a:cxnLst/>
                <a:rect l="l" t="t" r="r" b="b"/>
                <a:pathLst>
                  <a:path w="2304689" h="463826" extrusionOk="0">
                    <a:moveTo>
                      <a:pt x="0" y="0"/>
                    </a:moveTo>
                    <a:lnTo>
                      <a:pt x="2304689" y="0"/>
                    </a:lnTo>
                    <a:lnTo>
                      <a:pt x="2304689" y="463826"/>
                    </a:lnTo>
                    <a:lnTo>
                      <a:pt x="0" y="463826"/>
                    </a:ln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</p:sp>
          <p:sp>
            <p:nvSpPr>
              <p:cNvPr id="61" name="Google Shape;61;p13"/>
              <p:cNvSpPr txBox="1"/>
              <p:nvPr/>
            </p:nvSpPr>
            <p:spPr>
              <a:xfrm>
                <a:off x="0" y="-38100"/>
                <a:ext cx="2304600" cy="50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" name="Google Shape;62;p13"/>
          <p:cNvSpPr txBox="1"/>
          <p:nvPr/>
        </p:nvSpPr>
        <p:spPr>
          <a:xfrm>
            <a:off x="1754577" y="1022936"/>
            <a:ext cx="56349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CENTRE FOR DEVELOPMENT OF ADVANCED COMPUTING (C-DAC)</a:t>
            </a:r>
            <a:endParaRPr sz="1600" b="1" i="0" u="none" strike="noStrike" cap="none">
              <a:solidFill>
                <a:srgbClr val="0B53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639877" y="3087194"/>
            <a:ext cx="38643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1" dirty="0">
                <a:solidFill>
                  <a:schemeClr val="dk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rPr>
              <a:t>Team</a:t>
            </a:r>
            <a:r>
              <a:rPr lang="en-US" sz="1600" b="1" i="1" u="none" strike="noStrike" cap="none" dirty="0">
                <a:solidFill>
                  <a:schemeClr val="dk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layfair Display"/>
              </a:rPr>
              <a:t> Name</a:t>
            </a:r>
            <a:endParaRPr sz="1600" b="1" i="1" u="none" strike="noStrike" cap="none" dirty="0">
              <a:solidFill>
                <a:schemeClr val="dk1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  <a:sym typeface="Playfair Display"/>
            </a:endParaRPr>
          </a:p>
        </p:txBody>
      </p:sp>
      <p:pic>
        <p:nvPicPr>
          <p:cNvPr id="66" name="Google Shape;66;p13" title="Vector illustration of shiny yellow e-mail web icon | Free SV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5825" y="4339225"/>
            <a:ext cx="205263" cy="265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 title="File:Phone Shiny Icon.svg - Wikimedia Common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5825" y="4016225"/>
            <a:ext cx="205266" cy="20526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/>
        </p:nvSpPr>
        <p:spPr>
          <a:xfrm>
            <a:off x="527050" y="4016225"/>
            <a:ext cx="11289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509800" y="4302713"/>
            <a:ext cx="14490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090431" y="4480400"/>
            <a:ext cx="20079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7098900" y="4470900"/>
            <a:ext cx="17634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250" y="105358"/>
            <a:ext cx="2705100" cy="74771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/>
          <p:nvPr/>
        </p:nvSpPr>
        <p:spPr>
          <a:xfrm>
            <a:off x="818875" y="-4312734"/>
            <a:ext cx="7315200" cy="3429000"/>
          </a:xfrm>
          <a:custGeom>
            <a:avLst/>
            <a:gdLst/>
            <a:ahLst/>
            <a:cxnLst/>
            <a:rect l="l" t="t" r="r" b="b"/>
            <a:pathLst>
              <a:path w="7315200" h="3429000" extrusionOk="0">
                <a:moveTo>
                  <a:pt x="0" y="0"/>
                </a:moveTo>
                <a:lnTo>
                  <a:pt x="7315200" y="0"/>
                </a:lnTo>
                <a:lnTo>
                  <a:pt x="73152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60000"/>
            </a:blip>
            <a:stretch>
              <a:fillRect/>
            </a:stretch>
          </a:blipFill>
          <a:ln>
            <a:noFill/>
          </a:ln>
        </p:spPr>
      </p:sp>
      <p:sp>
        <p:nvSpPr>
          <p:cNvPr id="77" name="Google Shape;77;p13"/>
          <p:cNvSpPr/>
          <p:nvPr/>
        </p:nvSpPr>
        <p:spPr>
          <a:xfrm rot="-10195540">
            <a:off x="-8032755" y="-6051120"/>
            <a:ext cx="3415541" cy="2612888"/>
          </a:xfrm>
          <a:custGeom>
            <a:avLst/>
            <a:gdLst/>
            <a:ahLst/>
            <a:cxnLst/>
            <a:rect l="l" t="t" r="r" b="b"/>
            <a:pathLst>
              <a:path w="3414090" h="2611778" extrusionOk="0">
                <a:moveTo>
                  <a:pt x="0" y="0"/>
                </a:moveTo>
                <a:lnTo>
                  <a:pt x="3414090" y="0"/>
                </a:lnTo>
                <a:lnTo>
                  <a:pt x="3414090" y="2611779"/>
                </a:lnTo>
                <a:lnTo>
                  <a:pt x="0" y="2611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/>
            </a:stretch>
          </a:blipFill>
          <a:ln>
            <a:noFill/>
          </a:ln>
        </p:spPr>
      </p:sp>
      <p:pic>
        <p:nvPicPr>
          <p:cNvPr id="79" name="Google Shape;79;p13"/>
          <p:cNvPicPr preferRelativeResize="0"/>
          <p:nvPr/>
        </p:nvPicPr>
        <p:blipFill rotWithShape="1">
          <a:blip r:embed="rId8">
            <a:alphaModFix/>
          </a:blip>
          <a:srcRect b="23436"/>
          <a:stretch/>
        </p:blipFill>
        <p:spPr>
          <a:xfrm>
            <a:off x="3823826" y="1864675"/>
            <a:ext cx="1392314" cy="1039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311699" y="140224"/>
            <a:ext cx="8694599" cy="9600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Understanding</a:t>
            </a:r>
            <a:endParaRPr sz="3300" dirty="0">
              <a:solidFill>
                <a:srgbClr val="1155CC"/>
              </a:solidFill>
            </a:endParaRPr>
          </a:p>
        </p:txBody>
      </p:sp>
      <p:cxnSp>
        <p:nvCxnSpPr>
          <p:cNvPr id="88" name="Google Shape;88;p14"/>
          <p:cNvCxnSpPr/>
          <p:nvPr/>
        </p:nvCxnSpPr>
        <p:spPr>
          <a:xfrm rot="10800000" flipH="1">
            <a:off x="461588" y="568363"/>
            <a:ext cx="8472300" cy="141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89;p14"/>
          <p:cNvCxnSpPr/>
          <p:nvPr/>
        </p:nvCxnSpPr>
        <p:spPr>
          <a:xfrm rot="10800000" flipH="1">
            <a:off x="276613" y="4811863"/>
            <a:ext cx="8694600" cy="225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p1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92" name="Google Shape;92;p14"/>
          <p:cNvSpPr/>
          <p:nvPr/>
        </p:nvSpPr>
        <p:spPr>
          <a:xfrm rot="10800000">
            <a:off x="3170788" y="8349437"/>
            <a:ext cx="6492240" cy="3043238"/>
          </a:xfrm>
          <a:custGeom>
            <a:avLst/>
            <a:gdLst/>
            <a:ahLst/>
            <a:cxnLst/>
            <a:rect l="l" t="t" r="r" b="b"/>
            <a:pathLst>
              <a:path w="7315200" h="3429000" extrusionOk="0">
                <a:moveTo>
                  <a:pt x="73152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42900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/>
            </a:stretch>
          </a:blipFill>
          <a:ln>
            <a:noFill/>
          </a:ln>
        </p:spPr>
      </p:sp>
      <p:pic>
        <p:nvPicPr>
          <p:cNvPr id="95" name="Google Shape;95;p14"/>
          <p:cNvPicPr preferRelativeResize="0"/>
          <p:nvPr/>
        </p:nvPicPr>
        <p:blipFill rotWithShape="1">
          <a:blip r:embed="rId4">
            <a:alphaModFix/>
          </a:blip>
          <a:srcRect b="23436"/>
          <a:stretch/>
        </p:blipFill>
        <p:spPr>
          <a:xfrm>
            <a:off x="8472450" y="140225"/>
            <a:ext cx="455875" cy="34020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6;p15"/>
          <p:cNvSpPr txBox="1"/>
          <p:nvPr/>
        </p:nvSpPr>
        <p:spPr>
          <a:xfrm>
            <a:off x="1916763" y="4823125"/>
            <a:ext cx="5310475" cy="30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One Vision. One Goal…</a:t>
            </a:r>
            <a:r>
              <a:rPr lang="en" sz="1600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A</a:t>
            </a: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dvanced Computing for Human Advancement</a:t>
            </a:r>
            <a:endParaRPr sz="1600" i="0" u="none" strike="noStrike" cap="none" dirty="0">
              <a:solidFill>
                <a:srgbClr val="1155CC"/>
              </a:solidFill>
              <a:latin typeface="Monotype Corsiva" panose="03010101010201010101" pitchFamily="66" charset="0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</a:pPr>
            <a:r>
              <a:rPr lang="en-US" sz="20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dirty="0">
              <a:solidFill>
                <a:srgbClr val="1155CC"/>
              </a:solidFill>
            </a:endParaRPr>
          </a:p>
        </p:txBody>
      </p:sp>
      <p:cxnSp>
        <p:nvCxnSpPr>
          <p:cNvPr id="104" name="Google Shape;104;p15"/>
          <p:cNvCxnSpPr/>
          <p:nvPr/>
        </p:nvCxnSpPr>
        <p:spPr>
          <a:xfrm rot="10800000" flipH="1">
            <a:off x="461588" y="568363"/>
            <a:ext cx="8472300" cy="141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15"/>
          <p:cNvCxnSpPr/>
          <p:nvPr/>
        </p:nvCxnSpPr>
        <p:spPr>
          <a:xfrm rot="10800000" flipH="1">
            <a:off x="276613" y="4811863"/>
            <a:ext cx="8694600" cy="225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110" name="Google Shape;110;p15"/>
          <p:cNvPicPr preferRelativeResize="0"/>
          <p:nvPr/>
        </p:nvPicPr>
        <p:blipFill rotWithShape="1">
          <a:blip r:embed="rId3">
            <a:alphaModFix/>
          </a:blip>
          <a:srcRect b="23436"/>
          <a:stretch/>
        </p:blipFill>
        <p:spPr>
          <a:xfrm>
            <a:off x="8472450" y="140225"/>
            <a:ext cx="455875" cy="34020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6;p15"/>
          <p:cNvSpPr txBox="1"/>
          <p:nvPr/>
        </p:nvSpPr>
        <p:spPr>
          <a:xfrm>
            <a:off x="1916763" y="4823125"/>
            <a:ext cx="5310475" cy="30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One Vision. One Goal…</a:t>
            </a:r>
            <a:r>
              <a:rPr lang="en" sz="1600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A</a:t>
            </a: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dvanced Computing for Human Advancement</a:t>
            </a:r>
            <a:endParaRPr sz="1600" i="0" u="none" strike="noStrike" cap="none" dirty="0">
              <a:solidFill>
                <a:srgbClr val="1155CC"/>
              </a:solidFill>
              <a:latin typeface="Monotype Corsiva" panose="03010101010201010101" pitchFamily="66" charset="0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p17"/>
          <p:cNvCxnSpPr/>
          <p:nvPr/>
        </p:nvCxnSpPr>
        <p:spPr>
          <a:xfrm rot="10800000" flipH="1">
            <a:off x="276613" y="530725"/>
            <a:ext cx="8694600" cy="225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p17"/>
          <p:cNvSpPr txBox="1"/>
          <p:nvPr/>
        </p:nvSpPr>
        <p:spPr>
          <a:xfrm>
            <a:off x="276627" y="106075"/>
            <a:ext cx="62649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300"/>
            </a:pPr>
            <a:r>
              <a:rPr lang="en-US" sz="20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2000" i="0" u="none" strike="noStrike" cap="none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1" name="Google Shape;131;p17"/>
          <p:cNvCxnSpPr/>
          <p:nvPr/>
        </p:nvCxnSpPr>
        <p:spPr>
          <a:xfrm rot="10800000" flipH="1">
            <a:off x="276613" y="4811863"/>
            <a:ext cx="8694600" cy="225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" name="Google Shape;133;p1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34" name="Google Shape;134;p17"/>
          <p:cNvPicPr preferRelativeResize="0"/>
          <p:nvPr/>
        </p:nvPicPr>
        <p:blipFill rotWithShape="1">
          <a:blip r:embed="rId3">
            <a:alphaModFix/>
          </a:blip>
          <a:srcRect b="23436"/>
          <a:stretch/>
        </p:blipFill>
        <p:spPr>
          <a:xfrm>
            <a:off x="8472450" y="140225"/>
            <a:ext cx="455875" cy="34020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6;p15"/>
          <p:cNvSpPr txBox="1"/>
          <p:nvPr/>
        </p:nvSpPr>
        <p:spPr>
          <a:xfrm>
            <a:off x="1916763" y="4823125"/>
            <a:ext cx="5310475" cy="30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One Vision. One Goal…</a:t>
            </a:r>
            <a:r>
              <a:rPr lang="en" sz="1600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A</a:t>
            </a: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dvanced Computing for Human Advancement</a:t>
            </a:r>
            <a:endParaRPr sz="1600" i="0" u="none" strike="noStrike" cap="none" dirty="0">
              <a:solidFill>
                <a:srgbClr val="1155CC"/>
              </a:solidFill>
              <a:latin typeface="Monotype Corsiva" panose="03010101010201010101" pitchFamily="66" charset="0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>
            <a:spLocks noGrp="1"/>
          </p:cNvSpPr>
          <p:nvPr>
            <p:ph type="ctrTitle"/>
          </p:nvPr>
        </p:nvSpPr>
        <p:spPr>
          <a:xfrm>
            <a:off x="401775" y="121513"/>
            <a:ext cx="7790654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lvl="0" algn="l">
              <a:lnSpc>
                <a:spcPct val="90000"/>
              </a:lnSpc>
              <a:buSzPts val="2400"/>
            </a:pPr>
            <a:r>
              <a:rPr lang="en-US" sz="20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UI/UX (Kiosk Focused Security, Scalability &amp; Compliance)</a:t>
            </a:r>
            <a:endParaRPr sz="20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2" name="Google Shape;142;p18"/>
          <p:cNvCxnSpPr/>
          <p:nvPr/>
        </p:nvCxnSpPr>
        <p:spPr>
          <a:xfrm rot="10800000" flipH="1">
            <a:off x="461588" y="568363"/>
            <a:ext cx="8472300" cy="141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" name="Google Shape;143;p18"/>
          <p:cNvCxnSpPr/>
          <p:nvPr/>
        </p:nvCxnSpPr>
        <p:spPr>
          <a:xfrm rot="10800000" flipH="1">
            <a:off x="276613" y="4811863"/>
            <a:ext cx="8694600" cy="225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p1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 b="23436"/>
          <a:stretch/>
        </p:blipFill>
        <p:spPr>
          <a:xfrm>
            <a:off x="8472450" y="140225"/>
            <a:ext cx="455875" cy="34020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E001608-0CCB-349A-13D3-4A7851F17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944137"/>
            <a:ext cx="8520600" cy="268258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Google Shape;106;p15"/>
          <p:cNvSpPr txBox="1"/>
          <p:nvPr/>
        </p:nvSpPr>
        <p:spPr>
          <a:xfrm>
            <a:off x="1916763" y="4823125"/>
            <a:ext cx="5310475" cy="30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One Vision. One Goal…</a:t>
            </a:r>
            <a:r>
              <a:rPr lang="en" sz="1600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A</a:t>
            </a: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dvanced Computing for Human Advancement</a:t>
            </a:r>
            <a:endParaRPr sz="1600" i="0" u="none" strike="noStrike" cap="none" dirty="0">
              <a:solidFill>
                <a:srgbClr val="1155CC"/>
              </a:solidFill>
              <a:latin typeface="Monotype Corsiva" panose="03010101010201010101" pitchFamily="66" charset="0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>
            <a:spLocks noGrp="1"/>
          </p:cNvSpPr>
          <p:nvPr>
            <p:ph type="ctrTitle"/>
          </p:nvPr>
        </p:nvSpPr>
        <p:spPr>
          <a:xfrm>
            <a:off x="401775" y="121525"/>
            <a:ext cx="79032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lvl="0" algn="l">
              <a:lnSpc>
                <a:spcPct val="90000"/>
              </a:lnSpc>
              <a:buSzPct val="120000"/>
            </a:pPr>
            <a:r>
              <a:rPr lang="en-US" sz="2000" b="1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 &amp; Future Scope</a:t>
            </a:r>
            <a:endParaRPr sz="2000" b="1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3" name="Google Shape;153;p19"/>
          <p:cNvCxnSpPr/>
          <p:nvPr/>
        </p:nvCxnSpPr>
        <p:spPr>
          <a:xfrm rot="10800000" flipH="1">
            <a:off x="461588" y="568363"/>
            <a:ext cx="8472300" cy="141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" name="Google Shape;154;p19"/>
          <p:cNvCxnSpPr/>
          <p:nvPr/>
        </p:nvCxnSpPr>
        <p:spPr>
          <a:xfrm rot="10800000" flipH="1">
            <a:off x="276613" y="4811863"/>
            <a:ext cx="8694600" cy="22500"/>
          </a:xfrm>
          <a:prstGeom prst="straightConnector1">
            <a:avLst/>
          </a:prstGeom>
          <a:noFill/>
          <a:ln w="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p1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3">
            <a:alphaModFix/>
          </a:blip>
          <a:srcRect b="23436"/>
          <a:stretch/>
        </p:blipFill>
        <p:spPr>
          <a:xfrm>
            <a:off x="8472450" y="140225"/>
            <a:ext cx="455875" cy="34020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6;p15"/>
          <p:cNvSpPr txBox="1"/>
          <p:nvPr/>
        </p:nvSpPr>
        <p:spPr>
          <a:xfrm>
            <a:off x="1916763" y="4823125"/>
            <a:ext cx="5310475" cy="30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One Vision. One Goal…</a:t>
            </a:r>
            <a:r>
              <a:rPr lang="en" sz="1600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A</a:t>
            </a:r>
            <a:r>
              <a:rPr lang="en" sz="1600" i="0" u="none" strike="noStrike" cap="none" dirty="0">
                <a:solidFill>
                  <a:srgbClr val="1155CC"/>
                </a:solidFill>
                <a:latin typeface="Monotype Corsiva" panose="03010101010201010101" pitchFamily="66" charset="0"/>
                <a:ea typeface="Pacifico"/>
                <a:cs typeface="Pacifico"/>
                <a:sym typeface="Pacifico"/>
              </a:rPr>
              <a:t>dvanced Computing for Human Advancement</a:t>
            </a:r>
            <a:endParaRPr sz="1600" i="0" u="none" strike="noStrike" cap="none" dirty="0">
              <a:solidFill>
                <a:srgbClr val="1155CC"/>
              </a:solidFill>
              <a:latin typeface="Monotype Corsiva" panose="03010101010201010101" pitchFamily="66" charset="0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</Words>
  <Application>Microsoft Office PowerPoint</Application>
  <PresentationFormat>On-screen Show (16:9)</PresentationFormat>
  <Paragraphs>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Calibri</vt:lpstr>
      <vt:lpstr>Monotype Corsiva</vt:lpstr>
      <vt:lpstr>Nirmala UI</vt:lpstr>
      <vt:lpstr>Pacifico</vt:lpstr>
      <vt:lpstr>Arial</vt:lpstr>
      <vt:lpstr>Times New Roman</vt:lpstr>
      <vt:lpstr>Playfair Display</vt:lpstr>
      <vt:lpstr>Simple Light</vt:lpstr>
      <vt:lpstr>PowerPoint Presentation</vt:lpstr>
      <vt:lpstr>Problem Understanding</vt:lpstr>
      <vt:lpstr>Proposed Solution</vt:lpstr>
      <vt:lpstr>PowerPoint Presentation</vt:lpstr>
      <vt:lpstr>UI/UX (Kiosk Focused Security, Scalability &amp; Compliance)</vt:lpstr>
      <vt:lpstr>Innovation 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PMU</cp:lastModifiedBy>
  <cp:revision>4</cp:revision>
  <dcterms:modified xsi:type="dcterms:W3CDTF">2026-03-10T06:05:03Z</dcterms:modified>
</cp:coreProperties>
</file>